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0f88010f3f4cb9" /><Relationship Type="http://schemas.openxmlformats.org/officeDocument/2006/relationships/extended-properties" Target="/docProps/app.xml" Id="R059f85df032142a3" /><Relationship Type="http://schemas.openxmlformats.org/officeDocument/2006/relationships/officeDocument" Target="/ppt/presentation.xml" Id="Rfee4ee9467ac48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888a02f5ee4561"/>
  </p:sldMasterIdLst>
  <p:notesMasterIdLst>
    <p:notesMasterId xmlns:r="http://schemas.openxmlformats.org/officeDocument/2006/relationships" r:id="R8d2ca9a0f3e64543"/>
  </p:notesMasterIdLst>
  <p:sldIdLst>
    <p:sldId xmlns:r="http://schemas.openxmlformats.org/officeDocument/2006/relationships" id="256" r:id="Ra092a5407d094251"/>
    <p:sldId xmlns:r="http://schemas.openxmlformats.org/officeDocument/2006/relationships" id="257" r:id="Rb2f964c2ea7541a4"/>
    <p:sldId xmlns:r="http://schemas.openxmlformats.org/officeDocument/2006/relationships" id="258" r:id="R0c1e2be7f4aa4a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4fa754c1964e9d" /><Relationship Type="http://schemas.openxmlformats.org/officeDocument/2006/relationships/slideMaster" Target="/ppt/slideMasters/slideMaster1.xml" Id="Rf8888a02f5ee4561" /><Relationship Type="http://schemas.openxmlformats.org/officeDocument/2006/relationships/notesMaster" Target="/ppt/notesMasters/notesMaster1.xml" Id="R8d2ca9a0f3e64543" /><Relationship Type="http://schemas.openxmlformats.org/officeDocument/2006/relationships/presProps" Target="/ppt/presProps.xml" Id="R4b097910b22443d3" /><Relationship Type="http://schemas.openxmlformats.org/officeDocument/2006/relationships/viewProps" Target="/ppt/viewProps.xml" Id="Reefafab1e6274e00" /><Relationship Type="http://schemas.openxmlformats.org/officeDocument/2006/relationships/tableStyles" Target="/ppt/tableStyles.xml" Id="R2df8fbb8f076423f" /><Relationship Type="http://schemas.openxmlformats.org/officeDocument/2006/relationships/slide" Target="/ppt/slides/slide1.xml" Id="Ra092a5407d094251" /><Relationship Type="http://schemas.openxmlformats.org/officeDocument/2006/relationships/slide" Target="/ppt/slides/slide2.xml" Id="Rb2f964c2ea7541a4" /><Relationship Type="http://schemas.openxmlformats.org/officeDocument/2006/relationships/slide" Target="/ppt/slides/slide3.xml" Id="R0c1e2be7f4aa4a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4d576b805b49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9a04635e34583" /><Relationship Type="http://schemas.openxmlformats.org/officeDocument/2006/relationships/notesMaster" Target="/ppt/notesMasters/notesMaster1.xml" Id="R5be840ff2bc94e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581a9bb1f24ca4" /><Relationship Type="http://schemas.openxmlformats.org/officeDocument/2006/relationships/notesMaster" Target="/ppt/notesMasters/notesMaster1.xml" Id="Ra177efe1c7eb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b1cf4aba1f429e" /><Relationship Type="http://schemas.openxmlformats.org/officeDocument/2006/relationships/notesMaster" Target="/ppt/notesMasters/notesMaster1.xml" Id="R72c753ce62a84a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7418afa8a4c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e22b418eb5455c" /><Relationship Type="http://schemas.openxmlformats.org/officeDocument/2006/relationships/slideLayout" Target="/ppt/slideLayouts/slideLayout1.xml" Id="Rf89764cf6c3e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764cf6c3e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c91c0f41243bf" /><Relationship Type="http://schemas.openxmlformats.org/officeDocument/2006/relationships/notesSlide" Target="/ppt/notesSlides/notesSlide1.xml" Id="R67557066395945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1e6a0a8f84049" /><Relationship Type="http://schemas.openxmlformats.org/officeDocument/2006/relationships/notesSlide" Target="/ppt/notesSlides/notesSlide2.xml" Id="R13d708bdc0c040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5b9194cbe4b64" /><Relationship Type="http://schemas.openxmlformats.org/officeDocument/2006/relationships/image" Target="/ppt/media/image.png" Id="R6783c71681a54556" /><Relationship Type="http://schemas.openxmlformats.org/officeDocument/2006/relationships/notesSlide" Target="/ppt/notesSlides/notesSlide3.xml" Id="R1d49899dfdaa41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B711229-4DC9-406B-98A4-A849C762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BA6A4D-A017-4D41-9B29-C04FE97C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3FF"/>
          </a:solidFill>
          <a:ln xmlns:a="http://schemas.openxmlformats.org/drawingml/2006/main" w="0">
            <a:solidFill>
              <a:srgbClr val="4FA3F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2459E8B-7CF1-4A66-8C82-FBC65D26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A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A3FF"/>
                </a:solidFill>
                <a:latin typeface="Aptos"/>
                <a:ea typeface="Aptos"/>
                <a:cs typeface="Aptos"/>
              </a:rPr>
              <a:t>Q1 | BEFORE ATTENTION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B8952CA-4F24-4430-992D-DE43C740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A 32-frame sample becomes B x 32 x 262 x 1024, then attention is factorized.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D8C889E3-B304-436F-9269-3C80D5E6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9BB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9BB3"/>
                </a:solidFill>
                <a:latin typeface="Aptos"/>
                <a:ea typeface="Aptos"/>
                <a:cs typeface="Aptos"/>
              </a:rPr>
              <a:t>01 / 03</a:t>
            </a:r>
          </a:p>
        </p:txBody>
      </p:sp>
      <p:sp>
        <p:nvSpPr>
          <p:cNvPr id="6" name="stage-rgb">
            <a:extLst xmlns:a="http://schemas.openxmlformats.org/drawingml/2006/main">
              <a:ext uri="{FF2B5EF4-FFF2-40B4-BE49-F238E27FC236}">
                <a16:creationId xmlns:a16="http://schemas.microsoft.com/office/drawing/2014/main" id="{890CD4C1-7AAE-4A67-921D-739A43DB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7526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19050">
            <a:solidFill>
              <a:srgbClr val="69D5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07A42-FCB3-406D-A199-0608F9F0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59A"/>
          </a:solidFill>
          <a:ln xmlns:a="http://schemas.openxmlformats.org/drawingml/2006/main" w="0">
            <a:solidFill>
              <a:srgbClr val="69D5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D3B62-C1C9-4496-8D1F-BE0203CD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32 RGB frames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CCA80-EA08-45FB-AF42-1880AC09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14668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5 Hz</a:t>
            </a:r>
          </a:p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224 x 224</a:t>
            </a:r>
          </a:p>
        </p:txBody>
      </p:sp>
      <p:sp>
        <p:nvSpPr>
          <p:cNvPr id="10" name="stage-dino">
            <a:extLst xmlns:a="http://schemas.openxmlformats.org/drawingml/2006/main">
              <a:ext uri="{FF2B5EF4-FFF2-40B4-BE49-F238E27FC236}">
                <a16:creationId xmlns:a16="http://schemas.microsoft.com/office/drawing/2014/main" id="{209E2A88-69F6-4C41-97F4-E62438D7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485900"/>
            <a:ext cx="1790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19050">
            <a:solidFill>
              <a:srgbClr val="4FA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48946-7EAD-47CE-BD2B-AA545208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4859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3FF"/>
          </a:solidFill>
          <a:ln xmlns:a="http://schemas.openxmlformats.org/drawingml/2006/main" w="0">
            <a:solidFill>
              <a:srgbClr val="4FA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905D4-96F7-4CDB-A24D-E973DC8D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09725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Frozen DINOv2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A2080-7615-4F1B-BB05-6376943A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71675"/>
            <a:ext cx="1504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32 x 256 x 768</a:t>
            </a:r>
          </a:p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CLS + DINO regs removed</a:t>
            </a:r>
          </a:p>
        </p:txBody>
      </p:sp>
      <p:sp>
        <p:nvSpPr>
          <p:cNvPr id="14" name="stage-noise">
            <a:extLst xmlns:a="http://schemas.openxmlformats.org/drawingml/2006/main">
              <a:ext uri="{FF2B5EF4-FFF2-40B4-BE49-F238E27FC236}">
                <a16:creationId xmlns:a16="http://schemas.microsoft.com/office/drawing/2014/main" id="{3C29CF1E-1AF2-4FC8-B83F-A101E788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85900"/>
            <a:ext cx="2000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19050">
            <a:solidFill>
              <a:srgbClr val="A985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2975E-ED8F-4093-8581-3935FBFC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859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5FF"/>
          </a:solidFill>
          <a:ln xmlns:a="http://schemas.openxmlformats.org/drawingml/2006/main" w="0">
            <a:solidFill>
              <a:srgbClr val="A985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F73F6-55CE-475F-98FF-C13EE4BF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097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Per-frame corruption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918A1-2474-4668-B1FC-6A8862E1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71675"/>
            <a:ext cx="1714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x_t = s_t z_t + (1-s_t)e</a:t>
            </a:r>
          </a:p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one s_t per frame</a:t>
            </a:r>
          </a:p>
        </p:txBody>
      </p:sp>
      <p:sp>
        <p:nvSpPr>
          <p:cNvPr id="18" name="stage-tokenize">
            <a:extLst xmlns:a="http://schemas.openxmlformats.org/drawingml/2006/main">
              <a:ext uri="{FF2B5EF4-FFF2-40B4-BE49-F238E27FC236}">
                <a16:creationId xmlns:a16="http://schemas.microsoft.com/office/drawing/2014/main" id="{086A3E2C-452F-49A5-AAC9-FC995C43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859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AB55F-7BF1-4829-BBB6-CCA8320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859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0540FB-65DB-42CA-8571-9E2C1C7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9725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Build frame tokens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7E06F-F6F8-4E03-A1A6-341FF16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6 prefix + 256 patches</a:t>
            </a:r>
          </a:p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all width 1024</a:t>
            </a:r>
          </a:p>
        </p:txBody>
      </p:sp>
      <p:sp>
        <p:nvSpPr>
          <p:cNvPr id="22" name="stage-output">
            <a:extLst xmlns:a="http://schemas.openxmlformats.org/drawingml/2006/main">
              <a:ext uri="{FF2B5EF4-FFF2-40B4-BE49-F238E27FC236}">
                <a16:creationId xmlns:a16="http://schemas.microsoft.com/office/drawing/2014/main" id="{8FBEEFEA-E2E6-4EB9-949C-9DE94C4C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85900"/>
            <a:ext cx="2038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19050">
            <a:solidFill>
              <a:srgbClr val="FFB4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A42BF-51B8-4AE2-8393-EBBFAF4B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859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FFB4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068438-914D-4E8A-A005-43A1BE96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9725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Pre-attention tensor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71D49-61B1-40D5-9DEF-933B5850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71675"/>
            <a:ext cx="1752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B x 32 x 262 x 1024</a:t>
            </a:r>
          </a:p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8DFEA"/>
                </a:solidFill>
                <a:latin typeface="Aptos Mono"/>
                <a:ea typeface="Aptos Mono"/>
                <a:cs typeface="Aptos Mono"/>
              </a:rPr>
              <a:t>8,384 tokens / sample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86000" y="2057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516A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438650" y="2057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516A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800850" y="2057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516A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258300" y="20574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6516A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130F54-8F14-44A4-AA3A-B1785392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Per-frame token accounting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3CFB1F-C490-4EDC-A533-F95285B7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876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A985FF"/>
          </a:solidFill>
          <a:ln xmlns:a="http://schemas.openxmlformats.org/drawingml/2006/main" w="9525">
            <a:solidFill>
              <a:srgbClr val="A98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25BD41-F381-4742-98C3-D537D9C5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19475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B1020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810D45-1414-40B2-BB22-30D843E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38A3B4-9451-4026-AD7A-5C39502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90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2DA6A8-F0A7-4B5C-8B18-B3EB50F1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19475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B1020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5802C2-C58B-4672-A092-6CECB5B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A74955-EDEF-4263-8D26-3B5A1CA5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81375"/>
            <a:ext cx="16573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59D5E0"/>
          </a:solidFill>
          <a:ln xmlns:a="http://schemas.openxmlformats.org/drawingml/2006/main" w="9525">
            <a:solidFill>
              <a:srgbClr val="59D5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97D54E-F3EE-4D6A-A91E-E512F2D7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1947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B1020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45D39B-06CE-45F9-9CCE-D006149A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719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registers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026D8B-B7A1-4F35-9781-FBE6674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81375"/>
            <a:ext cx="514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4FA3FF"/>
          </a:solidFill>
          <a:ln xmlns:a="http://schemas.openxmlformats.org/drawingml/2006/main" w="9525">
            <a:solidFill>
              <a:srgbClr val="4FA3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5A1C77-C4F6-4F8A-A56D-4AFA0056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19475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020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B1020"/>
                </a:solidFill>
                <a:latin typeface="Aptos Mono"/>
                <a:ea typeface="Aptos Mono"/>
                <a:cs typeface="Aptos Mono"/>
              </a:rPr>
              <a:t>256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7D923B-E37D-4DA1-BB72-2F5A8EDC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719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DINO patches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A947C0-CF35-43BD-AD55-38F70B59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67100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9FC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F7F9FC"/>
                </a:solidFill>
                <a:latin typeface="Aptos Mono"/>
                <a:ea typeface="Aptos Mono"/>
                <a:cs typeface="Aptos Mono"/>
              </a:rPr>
              <a:t>= 262 tokens / frame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4DEF65-E3F4-4573-A500-5348426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238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A2338"/>
          </a:solidFill>
          <a:ln xmlns:a="http://schemas.openxmlformats.org/drawingml/2006/main" w="9525">
            <a:solidFill>
              <a:srgbClr val="4FA3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83220B-12C0-4B83-8D72-2606E463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Factorized attention reshapes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70113-0F99-4E1E-8C9F-60AF2B3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A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A3FF"/>
                </a:solidFill>
                <a:latin typeface="Aptos"/>
                <a:ea typeface="Aptos"/>
                <a:cs typeface="Aptos"/>
              </a:rPr>
              <a:t>Spatial layers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1A2026-D054-429F-9662-EE235486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9FC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F7F9FC"/>
                </a:solidFill>
                <a:latin typeface="Aptos Mono"/>
                <a:ea typeface="Aptos Mono"/>
                <a:cs typeface="Aptos Mono"/>
              </a:rPr>
              <a:t>(B x 32, 262, 1024)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5DEC4A-7A7F-4749-B946-AD72382A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8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85FF"/>
                </a:solidFill>
                <a:latin typeface="Aptos"/>
                <a:ea typeface="Aptos"/>
                <a:cs typeface="Aptos"/>
              </a:rPr>
              <a:t>Temporal layers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E1D4EB-CF27-48BC-B669-ADCE2558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7210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9FC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F7F9FC"/>
                </a:solidFill>
                <a:latin typeface="Aptos Mono"/>
                <a:ea typeface="Aptos Mono"/>
                <a:cs typeface="Aptos Mono"/>
              </a:rPr>
              <a:t>(B x 262, 32, 1024)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B51D31-BF48-41E7-AABE-82CB048C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76750"/>
            <a:ext cx="5619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A2338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C18525-B1A5-44D4-BD43-3D47093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96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Noise and masks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29C629-BE05-4694-90FA-15444E9F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43475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- Gaussian latent noise; no patch masking</a:t>
            </a:r>
          </a:p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- causal + 24-frame temporal window</a:t>
            </a:r>
          </a:p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- 30% independent-frame temporal block</a:t>
            </a:r>
          </a:p>
          <a:p xmlns:a="http://schemas.openxmlformats.org/drawingml/2006/main">
            <a:pPr algn="l">
              <a:defRPr sz="1200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- action mask; padding excluded from loss</a:t>
            </a:r>
          </a:p>
        </p:txBody>
      </p:sp>
      <p:sp>
        <p:nvSpPr>
          <p:cNvPr id="5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7166BF1-9984-4EDF-BA55-F56EBE9A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B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9BB3"/>
                </a:solidFill>
                <a:latin typeface="Aptos"/>
                <a:ea typeface="Aptos"/>
                <a:cs typeface="Aptos"/>
              </a:rPr>
              <a:t>Sources: thesis Fig. 3.2; backbone.py; world_trainer.py; lerobot_dataset.py</a:t>
            </a:r>
          </a:p>
        </p:txBody>
      </p:sp>
    </p:spTree>
    <p:extLst>
      <p:ext uri="{BB962C8B-B14F-4D97-AF65-F5344CB8AC3E}">
        <p14:creationId xmlns:p14="http://schemas.microsoft.com/office/powerpoint/2010/main" val="3941138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F3C5023-50ED-4D28-B061-D3980419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75359E-E5FF-452A-BECB-9FAEA669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3FF"/>
          </a:solidFill>
          <a:ln xmlns:a="http://schemas.openxmlformats.org/drawingml/2006/main" w="0">
            <a:solidFill>
              <a:srgbClr val="4FA3F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75BE92-9C1E-449B-9B73-87623662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A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A3FF"/>
                </a:solidFill>
                <a:latin typeface="Aptos"/>
                <a:ea typeface="Aptos"/>
                <a:cs typeface="Aptos"/>
              </a:rPr>
              <a:t>Q2 | MISSING ACTIONS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D625D2B-C429-4970-9F06-7F87B99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The base token separates 'action unavailable' from a valid zero control.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C0C95CA-05F0-4B09-90EF-3CCFAC5D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9BB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9BB3"/>
                </a:solidFill>
                <a:latin typeface="Aptos"/>
                <a:ea typeface="Aptos"/>
                <a:cs typeface="Aptos"/>
              </a:rPr>
              <a:t>02 /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D4625-AC93-47EF-9824-CE50DED1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One shared action-token position; availability changes only the added projected component.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9A4B5-9919-4B3C-9591-BE8D0223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0957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7878A-48F4-4A87-BF7C-6E2F6695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Action unavailable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D90DC-D240-4C28-A03A-5B407B69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9FC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7F9FC"/>
                </a:solidFill>
                <a:latin typeface="Aptos Mono"/>
                <a:ea typeface="Aptos Mono"/>
                <a:cs typeface="Aptos Mono"/>
              </a:rPr>
              <a:t>token = b_action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7C6B6-55C6-4006-BB4A-5A12F25F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Passive video, first frame,</a:t>
            </a:r>
          </a:p>
          <a:p xmlns:a="http://schemas.openxmlformats.org/drawingml/2006/main">
            <a:pPr algn="ctr">
              <a:defRPr sz="1200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independent frame, or action dropout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CACD1-9C8B-4F0B-B323-8A4B979B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24050"/>
            <a:ext cx="40957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19050">
            <a:solidFill>
              <a:srgbClr val="69D5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344C8-6ECE-4667-AA0D-66AE1884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85975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9D5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9D59A"/>
                </a:solidFill>
                <a:latin typeface="Aptos"/>
                <a:ea typeface="Aptos"/>
                <a:cs typeface="Aptos"/>
              </a:rPr>
              <a:t>Action 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BB2E4-1309-4B9B-9CBD-3D296A55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717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9FC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7F9FC"/>
                </a:solidFill>
                <a:latin typeface="Aptos Mono"/>
                <a:ea typeface="Aptos Mono"/>
                <a:cs typeface="Aptos Mono"/>
              </a:rPr>
              <a:t>token = b_action + W a +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C643A-C72A-478B-A1B5-A20076CA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90875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Normalized 7D UR5 transition</a:t>
            </a:r>
          </a:p>
          <a:p xmlns:a="http://schemas.openxmlformats.org/drawingml/2006/main">
            <a:pPr algn="ctr">
              <a:defRPr sz="1200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from frame t-1 to frame 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4A876-2350-4103-9B17-512E8886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24050"/>
            <a:ext cx="1924050" cy="19812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A2338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5FEB6-369C-46F4-832D-FDD7349F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85975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Why not a sentinel?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192CD-8126-4A88-8103-0B701C9C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1460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0 is a valid / mean control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100 is out of 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Both depend on arbitrary scaling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40B61-C71A-4E76-8730-BC97B4D9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1095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A2338"/>
          </a:solidFill>
          <a:ln xmlns:a="http://schemas.openxmlformats.org/drawingml/2006/main" w="9525">
            <a:solidFill>
              <a:srgbClr val="4FA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71B68-CD72-43A8-90FF-D75BCC3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67225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A3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4FA3FF"/>
                </a:solidFill>
                <a:latin typeface="Aptos"/>
                <a:ea typeface="Aptos"/>
                <a:cs typeface="Aptos"/>
              </a:rPr>
              <a:t>What passive video teaches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10F78-287D-49CC-B203-02323A1D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1023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9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9FC"/>
                </a:solidFill>
                <a:latin typeface="Aptos"/>
                <a:ea typeface="Aptos"/>
                <a:cs typeface="Aptos"/>
              </a:rPr>
              <a:t>It does not teach 'ignore motion'. It teaches visual dynamics conditioned on history with no observed robot command.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A0FC8-B58E-4C6F-8597-B1514215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10239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8F9B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F9BB3"/>
                </a:solidFill>
                <a:latin typeface="Aptos"/>
                <a:ea typeface="Aptos"/>
                <a:cs typeface="Aptos"/>
              </a:rPr>
              <a:t>A zero-filled action plus an explicit availability bit would also be valid; this thesis did not ablate that alternative.</a:t>
            </a:r>
          </a:p>
        </p:txBody>
      </p:sp>
      <p:sp>
        <p:nvSpPr>
          <p:cNvPr id="2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592476A-6290-47DA-B8D3-E39D49E8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B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9BB3"/>
                </a:solidFill>
                <a:latin typeface="Aptos"/>
                <a:ea typeface="Aptos"/>
                <a:cs typeface="Aptos"/>
              </a:rPr>
              <a:t>Sources: thesis Sec. 3.4 and 3.8; backbone.py action-token construction</a:t>
            </a:r>
          </a:p>
        </p:txBody>
      </p:sp>
    </p:spTree>
    <p:extLst>
      <p:ext uri="{BB962C8B-B14F-4D97-AF65-F5344CB8AC3E}">
        <p14:creationId xmlns:p14="http://schemas.microsoft.com/office/powerpoint/2010/main" val="2467046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A792A63-78C0-4226-9E7C-418DF764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6F8599C-7B0A-4373-B20E-640E94D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3FF"/>
          </a:solidFill>
          <a:ln xmlns:a="http://schemas.openxmlformats.org/drawingml/2006/main" w="0">
            <a:solidFill>
              <a:srgbClr val="4FA3F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6081939-F3BC-450A-A702-009147A2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A3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FA3FF"/>
                </a:solidFill>
                <a:latin typeface="Aptos"/>
                <a:ea typeface="Aptos"/>
                <a:cs typeface="Aptos"/>
              </a:rPr>
              <a:t>Q3 | CEM TRAJECTORY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9E34B51-FD9E-4022-BAF8-15FAE047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4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7F9FC"/>
                </a:solidFill>
                <a:latin typeface="Aptos Display"/>
                <a:ea typeface="Aptos Display"/>
                <a:cs typeface="Aptos Display"/>
              </a:rPr>
              <a:t>The hook is allowed by the cost: CEM is endpoint-seeking, not path-following.</a:t>
            </a:r>
          </a:p>
        </p:txBody>
      </p:sp>
      <p:sp>
        <p:nvSpPr>
          <p:cNvPr id="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272C92B-B00B-49FF-BFF3-3572DDCE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F9BB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9BB3"/>
                </a:solidFill>
                <a:latin typeface="Aptos"/>
                <a:ea typeface="Aptos"/>
                <a:cs typeface="Aptos"/>
              </a:rPr>
              <a:t>03 /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5B1C6-2CBE-4505-B350-6E782B2A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8102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41B2D"/>
          </a:solidFill>
          <a:ln xmlns:a="http://schemas.openxmlformats.org/drawingml/2006/main" w="9525">
            <a:solidFill>
              <a:srgbClr val="4F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FD582-17D6-446F-8530-D0A07E1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A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FA3FF"/>
                </a:solidFill>
                <a:latin typeface="Aptos"/>
                <a:ea typeface="Aptos"/>
                <a:cs typeface="Aptos"/>
              </a:rPr>
              <a:t>Implemented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0811B-A594-4096-AAC1-8C4A3176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535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9FC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F7F9FC"/>
                </a:solidFill>
                <a:latin typeface="Aptos Mono"/>
                <a:ea typeface="Aptos Mono"/>
                <a:cs typeface="Aptos Mono"/>
              </a:rPr>
              <a:t>J = terminal DINO MSE</a:t>
            </a:r>
          </a:p>
          <a:p xmlns:a="http://schemas.openxmlformats.org/drawingml/2006/main">
            <a:pPr algn="ctr">
              <a:defRPr sz="2025" b="1">
                <a:solidFill>
                  <a:srgbClr val="F7F9FC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F7F9FC"/>
                </a:solidFill>
                <a:latin typeface="Aptos Mono"/>
                <a:ea typeface="Aptos Mono"/>
                <a:cs typeface="Aptos Mono"/>
              </a:rPr>
              <a:t>    + 0.2 mean ||a_t||^2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2D0B3-5EAE-48DD-ABF5-6CC1B56F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D59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9D59A"/>
                </a:solidFill>
                <a:latin typeface="Aptos"/>
                <a:ea typeface="Aptos"/>
                <a:cs typeface="Aptos"/>
              </a:rPr>
              <a:t>Optimized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5AFA4-B04B-4FCC-A696-3078586A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05125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final visual state; small action magnitude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26430-F2AB-42AA-BF9D-3970918A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Not optimized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F2F2A-9428-4EDE-B621-3301D50E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05175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reference path; action differences; curvature; acceleration;</a:t>
            </a:r>
          </a:p>
          <a:p xmlns:a="http://schemas.openxmlformats.org/drawingml/2006/main">
            <a:pPr algn="l">
              <a:defRPr sz="112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jerk; IK; joint limits; collisions; model uncertainty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B90C7-228A-4536-B61D-C4521E41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353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FFB4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5203F-542C-4F08-8801-8C0B7F3E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5200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020"/>
                </a:solidFill>
                <a:latin typeface="Aptos"/>
                <a:ea typeface="Aptos"/>
                <a:cs typeface="Aptos"/>
              </a:rPr>
              <a:t>Goal: 4 s later | Plan: 10 steps at 5 Hz = 2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1A898-936D-4527-9226-746D5EC2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50482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516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3c71681a54556"/>
          <a:stretch xmlns:a="http://schemas.openxmlformats.org/drawingml/2006/main"/>
        </p:blipFill>
        <p:spPr>
          <a:xfrm xmlns:a="http://schemas.openxmlformats.org/drawingml/2006/main">
            <a:off x="6705600" y="1907323"/>
            <a:ext cx="4857750" cy="224325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706E7-DA9A-4F54-A18F-E6334788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A2338"/>
          </a:solidFill>
          <a:ln xmlns:a="http://schemas.openxmlformats.org/drawingml/2006/main" w="9525">
            <a:solidFill>
              <a:srgbClr val="69D5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89BA8-081B-49F3-AF76-DF7DF173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9D59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9D59A"/>
                </a:solidFill>
                <a:latin typeface="Aptos"/>
                <a:ea typeface="Aptos"/>
                <a:cs typeface="Aptos"/>
              </a:rPr>
              <a:t>Match the horizon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F72F0-D8B1-4094-B137-F2472887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236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Use 20 actions for a 4 s reference at 5 Hz.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6064F-CF4F-4B2C-8D45-C879AF8C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6730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A2338"/>
          </a:solidFill>
          <a:ln xmlns:a="http://schemas.openxmlformats.org/drawingml/2006/main" w="9525">
            <a:solidFill>
              <a:srgbClr val="A98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F7DAF-B478-4EF6-A5D3-561E3646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81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8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985FF"/>
                </a:solidFill>
                <a:latin typeface="Aptos"/>
                <a:ea typeface="Aptos"/>
                <a:cs typeface="Aptos"/>
              </a:rPr>
              <a:t>Add path smoothness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61490-DF8E-466E-BBB9-AE83A7AC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67350"/>
            <a:ext cx="236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Intermediate cost plus delta-action, acceleration, and jerk penalties.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2B446-0292-47B4-A439-8DA0E16F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6730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A2338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0DCCA-09DC-4D53-AC0D-91E5C263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81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Enforce feasibility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83CF5-439D-47F6-B396-92385AD4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67350"/>
            <a:ext cx="236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Joint-space / IK planning, limits, workspace, and collision checks.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46DEF-8D53-4F67-BAE3-97412195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67300"/>
            <a:ext cx="26289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A2338"/>
          </a:solidFill>
          <a:ln xmlns:a="http://schemas.openxmlformats.org/drawingml/2006/main" w="9525">
            <a:solidFill>
              <a:srgbClr val="4FA3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6E073A-4356-41F3-A66C-934F564A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81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A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FA3FF"/>
                </a:solidFill>
                <a:latin typeface="Aptos"/>
                <a:ea typeface="Aptos"/>
                <a:cs typeface="Aptos"/>
              </a:rPr>
              <a:t>Close the loop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0076C-D525-4815-BE94-2601F7FA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67350"/>
            <a:ext cx="2362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8DFE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FEA"/>
                </a:solidFill>
                <a:latin typeface="Aptos"/>
                <a:ea typeface="Aptos"/>
                <a:cs typeface="Aptos"/>
              </a:rPr>
              <a:t>Receding-horizon MPC and uncertainty / OOD penalties.</a:t>
            </a:r>
          </a:p>
        </p:txBody>
      </p:sp>
      <p:sp>
        <p:nvSpPr>
          <p:cNvPr id="2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D8BF95C-6928-4611-B77D-6A1BD9FE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F9B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9BB3"/>
                </a:solidFill>
                <a:latin typeface="Aptos"/>
                <a:ea typeface="Aptos"/>
                <a:cs typeface="Aptos"/>
              </a:rPr>
              <a:t>Sources: thesis Fig. 4.6; planning objective; horizon and 5 Hz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622482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2026-06-10T07:33:09.6230000Z</dcterms:created>
  <dcterms:modified xsi:type="dcterms:W3CDTF">2026-06-10T07:33:09.6230000Z</dcterms:modified>
</coreProperties>
</file>